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5143500" cx="9144000"/>
  <p:notesSz cx="6858000" cy="9144000"/>
  <p:embeddedFontLst>
    <p:embeddedFont>
      <p:font typeface="Roboto"/>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baranoshnik.com/" TargetMode="External"/><Relationship Id="rId10" Type="http://schemas.openxmlformats.org/officeDocument/2006/relationships/hyperlink" Target="http://agilelab.org/" TargetMode="External"/><Relationship Id="rId13" Type="http://schemas.openxmlformats.org/officeDocument/2006/relationships/hyperlink" Target="https://blog.agilistic.nl/agile-teams-dont-use-happiness-metrics-measure-team-morale/" TargetMode="External"/><Relationship Id="rId12" Type="http://schemas.openxmlformats.org/officeDocument/2006/relationships/hyperlink" Target="https://www.scruminc.com/happiness-metric-wave-of-future-2/" TargetMode="External"/><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p:nvPr/>
        </p:nvSpPr>
        <p:spPr>
          <a:xfrm>
            <a:off x="341441" y="787603"/>
            <a:ext cx="67800" cy="60900"/>
          </a:xfrm>
          <a:prstGeom prst="ellipse">
            <a:avLst/>
          </a:prstGeom>
          <a:solidFill>
            <a:srgbClr val="A61C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p:nvPr/>
        </p:nvSpPr>
        <p:spPr>
          <a:xfrm>
            <a:off x="341441" y="967472"/>
            <a:ext cx="67800" cy="60900"/>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p:nvPr/>
        </p:nvSpPr>
        <p:spPr>
          <a:xfrm>
            <a:off x="341441" y="1147341"/>
            <a:ext cx="67800" cy="60900"/>
          </a:xfrm>
          <a:prstGeom prst="ellipse">
            <a:avLst/>
          </a:prstGeom>
          <a:solidFill>
            <a:srgbClr val="E6913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3"/>
          <p:cNvSpPr/>
          <p:nvPr/>
        </p:nvSpPr>
        <p:spPr>
          <a:xfrm>
            <a:off x="341441" y="1327209"/>
            <a:ext cx="67800" cy="60900"/>
          </a:xfrm>
          <a:prstGeom prst="ellipse">
            <a:avLst/>
          </a:prstGeom>
          <a:solidFill>
            <a:srgbClr val="F1C23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341441" y="1507078"/>
            <a:ext cx="67800" cy="60900"/>
          </a:xfrm>
          <a:prstGeom prst="ellipse">
            <a:avLst/>
          </a:prstGeom>
          <a:solidFill>
            <a:srgbClr val="6AA84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3"/>
          <p:cNvSpPr/>
          <p:nvPr/>
        </p:nvSpPr>
        <p:spPr>
          <a:xfrm>
            <a:off x="341441" y="1686947"/>
            <a:ext cx="67800" cy="60900"/>
          </a:xfrm>
          <a:prstGeom prst="ellipse">
            <a:avLst/>
          </a:prstGeom>
          <a:solidFill>
            <a:srgbClr val="45818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3"/>
          <p:cNvSpPr/>
          <p:nvPr/>
        </p:nvSpPr>
        <p:spPr>
          <a:xfrm>
            <a:off x="341441" y="1866815"/>
            <a:ext cx="67800" cy="60900"/>
          </a:xfrm>
          <a:prstGeom prst="ellipse">
            <a:avLst/>
          </a:prstGeom>
          <a:solidFill>
            <a:srgbClr val="3C78D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txBox="1"/>
          <p:nvPr/>
        </p:nvSpPr>
        <p:spPr>
          <a:xfrm>
            <a:off x="507325" y="830300"/>
            <a:ext cx="309600" cy="1500600"/>
          </a:xfrm>
          <a:prstGeom prst="rect">
            <a:avLst/>
          </a:prstGeom>
          <a:noFill/>
          <a:ln>
            <a:noFill/>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lang="en" sz="600">
                <a:latin typeface="Roboto"/>
                <a:ea typeface="Roboto"/>
                <a:cs typeface="Roboto"/>
                <a:sym typeface="Roboto"/>
              </a:rPr>
              <a:t>AA</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BB</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CC</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DD</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EE</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FF</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GG</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HH</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II</a:t>
            </a:r>
            <a:endParaRPr sz="600">
              <a:latin typeface="Roboto"/>
              <a:ea typeface="Roboto"/>
              <a:cs typeface="Roboto"/>
              <a:sym typeface="Roboto"/>
            </a:endParaRPr>
          </a:p>
        </p:txBody>
      </p:sp>
      <p:sp>
        <p:nvSpPr>
          <p:cNvPr id="62" name="Google Shape;62;p13"/>
          <p:cNvSpPr/>
          <p:nvPr/>
        </p:nvSpPr>
        <p:spPr>
          <a:xfrm>
            <a:off x="341441" y="2046684"/>
            <a:ext cx="67800" cy="60900"/>
          </a:xfrm>
          <a:prstGeom prst="ellipse">
            <a:avLst/>
          </a:prstGeom>
          <a:solidFill>
            <a:srgbClr val="674EA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3"/>
          <p:cNvSpPr/>
          <p:nvPr/>
        </p:nvSpPr>
        <p:spPr>
          <a:xfrm>
            <a:off x="341441" y="2226553"/>
            <a:ext cx="67800" cy="60900"/>
          </a:xfrm>
          <a:prstGeom prst="ellipse">
            <a:avLst/>
          </a:prstGeom>
          <a:solidFill>
            <a:srgbClr val="A64D7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txBox="1"/>
          <p:nvPr/>
        </p:nvSpPr>
        <p:spPr>
          <a:xfrm>
            <a:off x="37025" y="158550"/>
            <a:ext cx="10068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Simple voting</a:t>
            </a:r>
            <a:endParaRPr b="1" sz="1000">
              <a:latin typeface="Roboto"/>
              <a:ea typeface="Roboto"/>
              <a:cs typeface="Roboto"/>
              <a:sym typeface="Roboto"/>
            </a:endParaRPr>
          </a:p>
        </p:txBody>
      </p:sp>
      <p:sp>
        <p:nvSpPr>
          <p:cNvPr id="65" name="Google Shape;65;p13"/>
          <p:cNvSpPr/>
          <p:nvPr/>
        </p:nvSpPr>
        <p:spPr>
          <a:xfrm>
            <a:off x="1918966" y="787603"/>
            <a:ext cx="67800" cy="60900"/>
          </a:xfrm>
          <a:prstGeom prst="ellipse">
            <a:avLst/>
          </a:prstGeom>
          <a:solidFill>
            <a:srgbClr val="A61C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p:nvPr/>
        </p:nvSpPr>
        <p:spPr>
          <a:xfrm>
            <a:off x="1918966" y="967472"/>
            <a:ext cx="67800" cy="60900"/>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3"/>
          <p:cNvSpPr/>
          <p:nvPr/>
        </p:nvSpPr>
        <p:spPr>
          <a:xfrm>
            <a:off x="1918966" y="1147341"/>
            <a:ext cx="67800" cy="60900"/>
          </a:xfrm>
          <a:prstGeom prst="ellipse">
            <a:avLst/>
          </a:prstGeom>
          <a:solidFill>
            <a:srgbClr val="E6913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p:nvPr/>
        </p:nvSpPr>
        <p:spPr>
          <a:xfrm>
            <a:off x="1918966" y="1327209"/>
            <a:ext cx="67800" cy="60900"/>
          </a:xfrm>
          <a:prstGeom prst="ellipse">
            <a:avLst/>
          </a:prstGeom>
          <a:solidFill>
            <a:srgbClr val="F1C23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p:nvPr/>
        </p:nvSpPr>
        <p:spPr>
          <a:xfrm>
            <a:off x="1918966" y="1507078"/>
            <a:ext cx="67800" cy="60900"/>
          </a:xfrm>
          <a:prstGeom prst="ellipse">
            <a:avLst/>
          </a:prstGeom>
          <a:solidFill>
            <a:srgbClr val="6AA84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3"/>
          <p:cNvSpPr/>
          <p:nvPr/>
        </p:nvSpPr>
        <p:spPr>
          <a:xfrm>
            <a:off x="1918966" y="1686947"/>
            <a:ext cx="67800" cy="60900"/>
          </a:xfrm>
          <a:prstGeom prst="ellipse">
            <a:avLst/>
          </a:prstGeom>
          <a:solidFill>
            <a:srgbClr val="45818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3"/>
          <p:cNvSpPr/>
          <p:nvPr/>
        </p:nvSpPr>
        <p:spPr>
          <a:xfrm>
            <a:off x="1918966" y="1866815"/>
            <a:ext cx="67800" cy="60900"/>
          </a:xfrm>
          <a:prstGeom prst="ellipse">
            <a:avLst/>
          </a:prstGeom>
          <a:solidFill>
            <a:srgbClr val="3D85C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txBox="1"/>
          <p:nvPr/>
        </p:nvSpPr>
        <p:spPr>
          <a:xfrm>
            <a:off x="2084850" y="830300"/>
            <a:ext cx="309600" cy="1500600"/>
          </a:xfrm>
          <a:prstGeom prst="rect">
            <a:avLst/>
          </a:prstGeom>
          <a:noFill/>
          <a:ln>
            <a:noFill/>
          </a:ln>
        </p:spPr>
        <p:txBody>
          <a:bodyPr anchorCtr="0" anchor="ctr" bIns="91425" lIns="91425" spcFirstLastPara="1" rIns="91425" wrap="square" tIns="91425">
            <a:noAutofit/>
          </a:bodyPr>
          <a:lstStyle/>
          <a:p>
            <a:pPr indent="0" lvl="0" marL="0" rtl="0" algn="ctr">
              <a:lnSpc>
                <a:spcPct val="200000"/>
              </a:lnSpc>
              <a:spcBef>
                <a:spcPts val="0"/>
              </a:spcBef>
              <a:spcAft>
                <a:spcPts val="0"/>
              </a:spcAft>
              <a:buNone/>
            </a:pPr>
            <a:r>
              <a:rPr lang="en" sz="600">
                <a:latin typeface="Roboto"/>
                <a:ea typeface="Roboto"/>
                <a:cs typeface="Roboto"/>
                <a:sym typeface="Roboto"/>
              </a:rPr>
              <a:t>AA</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BB</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CC</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DD</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EE</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FF</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GG</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HH</a:t>
            </a:r>
            <a:endParaRPr sz="600">
              <a:latin typeface="Roboto"/>
              <a:ea typeface="Roboto"/>
              <a:cs typeface="Roboto"/>
              <a:sym typeface="Roboto"/>
            </a:endParaRPr>
          </a:p>
          <a:p>
            <a:pPr indent="0" lvl="0" marL="0" rtl="0" algn="ctr">
              <a:lnSpc>
                <a:spcPct val="200000"/>
              </a:lnSpc>
              <a:spcBef>
                <a:spcPts val="0"/>
              </a:spcBef>
              <a:spcAft>
                <a:spcPts val="0"/>
              </a:spcAft>
              <a:buNone/>
            </a:pPr>
            <a:r>
              <a:rPr lang="en" sz="600">
                <a:latin typeface="Roboto"/>
                <a:ea typeface="Roboto"/>
                <a:cs typeface="Roboto"/>
                <a:sym typeface="Roboto"/>
              </a:rPr>
              <a:t>II</a:t>
            </a:r>
            <a:endParaRPr sz="600">
              <a:latin typeface="Roboto"/>
              <a:ea typeface="Roboto"/>
              <a:cs typeface="Roboto"/>
              <a:sym typeface="Roboto"/>
            </a:endParaRPr>
          </a:p>
        </p:txBody>
      </p:sp>
      <p:sp>
        <p:nvSpPr>
          <p:cNvPr id="73" name="Google Shape;73;p13"/>
          <p:cNvSpPr/>
          <p:nvPr/>
        </p:nvSpPr>
        <p:spPr>
          <a:xfrm>
            <a:off x="1918966" y="2046684"/>
            <a:ext cx="67800" cy="60900"/>
          </a:xfrm>
          <a:prstGeom prst="ellipse">
            <a:avLst/>
          </a:prstGeom>
          <a:solidFill>
            <a:srgbClr val="674EA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p:nvPr/>
        </p:nvSpPr>
        <p:spPr>
          <a:xfrm>
            <a:off x="1918966" y="2226553"/>
            <a:ext cx="67800" cy="60900"/>
          </a:xfrm>
          <a:prstGeom prst="ellipse">
            <a:avLst/>
          </a:prstGeom>
          <a:solidFill>
            <a:srgbClr val="A64D7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3"/>
          <p:cNvSpPr txBox="1"/>
          <p:nvPr/>
        </p:nvSpPr>
        <p:spPr>
          <a:xfrm>
            <a:off x="1449475" y="158550"/>
            <a:ext cx="9450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Dot voting</a:t>
            </a:r>
            <a:endParaRPr b="1" sz="1000">
              <a:latin typeface="Roboto"/>
              <a:ea typeface="Roboto"/>
              <a:cs typeface="Roboto"/>
              <a:sym typeface="Roboto"/>
            </a:endParaRPr>
          </a:p>
        </p:txBody>
      </p:sp>
      <p:sp>
        <p:nvSpPr>
          <p:cNvPr id="76" name="Google Shape;76;p13"/>
          <p:cNvSpPr/>
          <p:nvPr/>
        </p:nvSpPr>
        <p:spPr>
          <a:xfrm>
            <a:off x="1753091" y="787603"/>
            <a:ext cx="67800" cy="60900"/>
          </a:xfrm>
          <a:prstGeom prst="ellipse">
            <a:avLst/>
          </a:prstGeom>
          <a:solidFill>
            <a:srgbClr val="A61C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3"/>
          <p:cNvSpPr/>
          <p:nvPr/>
        </p:nvSpPr>
        <p:spPr>
          <a:xfrm>
            <a:off x="1753091" y="967472"/>
            <a:ext cx="67800" cy="60900"/>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3"/>
          <p:cNvSpPr/>
          <p:nvPr/>
        </p:nvSpPr>
        <p:spPr>
          <a:xfrm>
            <a:off x="1753091" y="1147341"/>
            <a:ext cx="67800" cy="60900"/>
          </a:xfrm>
          <a:prstGeom prst="ellipse">
            <a:avLst/>
          </a:prstGeom>
          <a:solidFill>
            <a:srgbClr val="E6913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3"/>
          <p:cNvSpPr/>
          <p:nvPr/>
        </p:nvSpPr>
        <p:spPr>
          <a:xfrm>
            <a:off x="1753091" y="1327209"/>
            <a:ext cx="67800" cy="60900"/>
          </a:xfrm>
          <a:prstGeom prst="ellipse">
            <a:avLst/>
          </a:prstGeom>
          <a:solidFill>
            <a:srgbClr val="F1C23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3"/>
          <p:cNvSpPr/>
          <p:nvPr/>
        </p:nvSpPr>
        <p:spPr>
          <a:xfrm>
            <a:off x="1753091" y="1507078"/>
            <a:ext cx="67800" cy="60900"/>
          </a:xfrm>
          <a:prstGeom prst="ellipse">
            <a:avLst/>
          </a:prstGeom>
          <a:solidFill>
            <a:srgbClr val="6AA84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3"/>
          <p:cNvSpPr/>
          <p:nvPr/>
        </p:nvSpPr>
        <p:spPr>
          <a:xfrm>
            <a:off x="1753091" y="1686947"/>
            <a:ext cx="67800" cy="60900"/>
          </a:xfrm>
          <a:prstGeom prst="ellipse">
            <a:avLst/>
          </a:prstGeom>
          <a:solidFill>
            <a:srgbClr val="45818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3"/>
          <p:cNvSpPr/>
          <p:nvPr/>
        </p:nvSpPr>
        <p:spPr>
          <a:xfrm>
            <a:off x="1753091" y="1866815"/>
            <a:ext cx="67800" cy="60900"/>
          </a:xfrm>
          <a:prstGeom prst="ellipse">
            <a:avLst/>
          </a:prstGeom>
          <a:solidFill>
            <a:srgbClr val="3D85C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3"/>
          <p:cNvSpPr/>
          <p:nvPr/>
        </p:nvSpPr>
        <p:spPr>
          <a:xfrm>
            <a:off x="1753091" y="2046684"/>
            <a:ext cx="67800" cy="60900"/>
          </a:xfrm>
          <a:prstGeom prst="ellipse">
            <a:avLst/>
          </a:prstGeom>
          <a:solidFill>
            <a:srgbClr val="674EA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3"/>
          <p:cNvSpPr/>
          <p:nvPr/>
        </p:nvSpPr>
        <p:spPr>
          <a:xfrm>
            <a:off x="1753091" y="2226553"/>
            <a:ext cx="67800" cy="60900"/>
          </a:xfrm>
          <a:prstGeom prst="ellipse">
            <a:avLst/>
          </a:prstGeom>
          <a:solidFill>
            <a:srgbClr val="A64D7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a:off x="1587216" y="787603"/>
            <a:ext cx="67800" cy="60900"/>
          </a:xfrm>
          <a:prstGeom prst="ellipse">
            <a:avLst/>
          </a:prstGeom>
          <a:solidFill>
            <a:srgbClr val="A61C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1587216" y="967472"/>
            <a:ext cx="67800" cy="60900"/>
          </a:xfrm>
          <a:prstGeom prst="ellipse">
            <a:avLst/>
          </a:prstGeom>
          <a:solidFill>
            <a:srgbClr val="FF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1587216" y="1147341"/>
            <a:ext cx="67800" cy="60900"/>
          </a:xfrm>
          <a:prstGeom prst="ellipse">
            <a:avLst/>
          </a:prstGeom>
          <a:solidFill>
            <a:srgbClr val="E6913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1587216" y="1327209"/>
            <a:ext cx="67800" cy="60900"/>
          </a:xfrm>
          <a:prstGeom prst="ellipse">
            <a:avLst/>
          </a:prstGeom>
          <a:solidFill>
            <a:srgbClr val="F1C23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a:off x="1587216" y="1507078"/>
            <a:ext cx="67800" cy="60900"/>
          </a:xfrm>
          <a:prstGeom prst="ellipse">
            <a:avLst/>
          </a:prstGeom>
          <a:solidFill>
            <a:srgbClr val="6AA84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a:off x="1587216" y="1686947"/>
            <a:ext cx="67800" cy="60900"/>
          </a:xfrm>
          <a:prstGeom prst="ellipse">
            <a:avLst/>
          </a:prstGeom>
          <a:solidFill>
            <a:srgbClr val="45818E"/>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a:off x="1587216" y="1866815"/>
            <a:ext cx="67800" cy="60900"/>
          </a:xfrm>
          <a:prstGeom prst="ellipse">
            <a:avLst/>
          </a:prstGeom>
          <a:solidFill>
            <a:srgbClr val="3D85C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a:off x="1587216" y="2046684"/>
            <a:ext cx="67800" cy="60900"/>
          </a:xfrm>
          <a:prstGeom prst="ellipse">
            <a:avLst/>
          </a:prstGeom>
          <a:solidFill>
            <a:srgbClr val="674EA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a:off x="1587216" y="2226553"/>
            <a:ext cx="67800" cy="60900"/>
          </a:xfrm>
          <a:prstGeom prst="ellipse">
            <a:avLst/>
          </a:prstGeom>
          <a:solidFill>
            <a:srgbClr val="A64D7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txBox="1"/>
          <p:nvPr/>
        </p:nvSpPr>
        <p:spPr>
          <a:xfrm>
            <a:off x="3126200" y="482795"/>
            <a:ext cx="633900" cy="528000"/>
          </a:xfrm>
          <a:prstGeom prst="rect">
            <a:avLst/>
          </a:prstGeom>
          <a:solidFill>
            <a:srgbClr val="FFE599"/>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Roboto"/>
                <a:ea typeface="Roboto"/>
                <a:cs typeface="Roboto"/>
                <a:sym typeface="Roboto"/>
              </a:rPr>
              <a:t>I am a sticky note!</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Copy me to the board!</a:t>
            </a:r>
            <a:endParaRPr sz="600">
              <a:latin typeface="Roboto"/>
              <a:ea typeface="Roboto"/>
              <a:cs typeface="Roboto"/>
              <a:sym typeface="Roboto"/>
            </a:endParaRPr>
          </a:p>
        </p:txBody>
      </p:sp>
      <p:sp>
        <p:nvSpPr>
          <p:cNvPr id="95" name="Google Shape;95;p13"/>
          <p:cNvSpPr txBox="1"/>
          <p:nvPr/>
        </p:nvSpPr>
        <p:spPr>
          <a:xfrm>
            <a:off x="3348125" y="157150"/>
            <a:ext cx="10068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Stickies</a:t>
            </a:r>
            <a:endParaRPr b="1" sz="1000">
              <a:latin typeface="Roboto"/>
              <a:ea typeface="Roboto"/>
              <a:cs typeface="Roboto"/>
              <a:sym typeface="Roboto"/>
            </a:endParaRPr>
          </a:p>
        </p:txBody>
      </p:sp>
      <p:sp>
        <p:nvSpPr>
          <p:cNvPr id="96" name="Google Shape;96;p13"/>
          <p:cNvSpPr txBox="1"/>
          <p:nvPr/>
        </p:nvSpPr>
        <p:spPr>
          <a:xfrm>
            <a:off x="3809375" y="482800"/>
            <a:ext cx="900900" cy="188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latin typeface="Roboto"/>
                <a:ea typeface="Roboto"/>
                <a:cs typeface="Roboto"/>
                <a:sym typeface="Roboto"/>
              </a:rPr>
              <a:t>Retro output</a:t>
            </a:r>
            <a:endParaRPr b="1" sz="800">
              <a:latin typeface="Roboto"/>
              <a:ea typeface="Roboto"/>
              <a:cs typeface="Roboto"/>
              <a:sym typeface="Roboto"/>
            </a:endParaRPr>
          </a:p>
        </p:txBody>
      </p:sp>
      <p:grpSp>
        <p:nvGrpSpPr>
          <p:cNvPr id="97" name="Google Shape;97;p13"/>
          <p:cNvGrpSpPr/>
          <p:nvPr/>
        </p:nvGrpSpPr>
        <p:grpSpPr>
          <a:xfrm>
            <a:off x="5470194" y="550850"/>
            <a:ext cx="1282956" cy="1723500"/>
            <a:chOff x="10386869" y="3230150"/>
            <a:chExt cx="1282956" cy="1723500"/>
          </a:xfrm>
        </p:grpSpPr>
        <p:sp>
          <p:nvSpPr>
            <p:cNvPr id="98" name="Google Shape;98;p13"/>
            <p:cNvSpPr/>
            <p:nvPr/>
          </p:nvSpPr>
          <p:spPr>
            <a:xfrm>
              <a:off x="10479425" y="3230150"/>
              <a:ext cx="1190400" cy="1723500"/>
            </a:xfrm>
            <a:prstGeom prst="rect">
              <a:avLst/>
            </a:prstGeom>
            <a:no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9" name="Google Shape;99;p13"/>
            <p:cNvPicPr preferRelativeResize="0"/>
            <p:nvPr/>
          </p:nvPicPr>
          <p:blipFill>
            <a:blip r:embed="rId3">
              <a:alphaModFix/>
            </a:blip>
            <a:stretch>
              <a:fillRect/>
            </a:stretch>
          </p:blipFill>
          <p:spPr>
            <a:xfrm>
              <a:off x="10386875" y="3863816"/>
              <a:ext cx="185700" cy="186496"/>
            </a:xfrm>
            <a:prstGeom prst="rect">
              <a:avLst/>
            </a:prstGeom>
            <a:noFill/>
            <a:ln>
              <a:noFill/>
            </a:ln>
          </p:spPr>
        </p:pic>
        <p:pic>
          <p:nvPicPr>
            <p:cNvPr id="100" name="Google Shape;100;p13"/>
            <p:cNvPicPr preferRelativeResize="0"/>
            <p:nvPr/>
          </p:nvPicPr>
          <p:blipFill>
            <a:blip r:embed="rId4">
              <a:alphaModFix/>
            </a:blip>
            <a:stretch>
              <a:fillRect/>
            </a:stretch>
          </p:blipFill>
          <p:spPr>
            <a:xfrm>
              <a:off x="10386869" y="3580681"/>
              <a:ext cx="185700" cy="188061"/>
            </a:xfrm>
            <a:prstGeom prst="rect">
              <a:avLst/>
            </a:prstGeom>
            <a:noFill/>
            <a:ln>
              <a:noFill/>
            </a:ln>
          </p:spPr>
        </p:pic>
        <p:pic>
          <p:nvPicPr>
            <p:cNvPr id="101" name="Google Shape;101;p13"/>
            <p:cNvPicPr preferRelativeResize="0"/>
            <p:nvPr/>
          </p:nvPicPr>
          <p:blipFill>
            <a:blip r:embed="rId5">
              <a:alphaModFix/>
            </a:blip>
            <a:stretch>
              <a:fillRect/>
            </a:stretch>
          </p:blipFill>
          <p:spPr>
            <a:xfrm>
              <a:off x="10386875" y="4146538"/>
              <a:ext cx="185700" cy="185700"/>
            </a:xfrm>
            <a:prstGeom prst="rect">
              <a:avLst/>
            </a:prstGeom>
            <a:noFill/>
            <a:ln>
              <a:noFill/>
            </a:ln>
          </p:spPr>
        </p:pic>
        <p:pic>
          <p:nvPicPr>
            <p:cNvPr id="102" name="Google Shape;102;p13"/>
            <p:cNvPicPr preferRelativeResize="0"/>
            <p:nvPr/>
          </p:nvPicPr>
          <p:blipFill>
            <a:blip r:embed="rId6">
              <a:alphaModFix/>
            </a:blip>
            <a:stretch>
              <a:fillRect/>
            </a:stretch>
          </p:blipFill>
          <p:spPr>
            <a:xfrm>
              <a:off x="10386875" y="4429271"/>
              <a:ext cx="185700" cy="184930"/>
            </a:xfrm>
            <a:prstGeom prst="rect">
              <a:avLst/>
            </a:prstGeom>
            <a:noFill/>
            <a:ln>
              <a:noFill/>
            </a:ln>
          </p:spPr>
        </p:pic>
        <p:pic>
          <p:nvPicPr>
            <p:cNvPr id="103" name="Google Shape;103;p13"/>
            <p:cNvPicPr preferRelativeResize="0"/>
            <p:nvPr/>
          </p:nvPicPr>
          <p:blipFill>
            <a:blip r:embed="rId7">
              <a:alphaModFix/>
            </a:blip>
            <a:stretch>
              <a:fillRect/>
            </a:stretch>
          </p:blipFill>
          <p:spPr>
            <a:xfrm flipH="1">
              <a:off x="10386875" y="4711600"/>
              <a:ext cx="185700" cy="184925"/>
            </a:xfrm>
            <a:prstGeom prst="rect">
              <a:avLst/>
            </a:prstGeom>
            <a:noFill/>
            <a:ln>
              <a:noFill/>
            </a:ln>
          </p:spPr>
        </p:pic>
        <p:sp>
          <p:nvSpPr>
            <p:cNvPr id="104" name="Google Shape;104;p13"/>
            <p:cNvSpPr txBox="1"/>
            <p:nvPr/>
          </p:nvSpPr>
          <p:spPr>
            <a:xfrm>
              <a:off x="10638425" y="3259650"/>
              <a:ext cx="872400" cy="30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Happiness Index</a:t>
              </a:r>
              <a:endParaRPr sz="1000">
                <a:latin typeface="Roboto"/>
                <a:ea typeface="Roboto"/>
                <a:cs typeface="Roboto"/>
                <a:sym typeface="Roboto"/>
              </a:endParaRPr>
            </a:p>
          </p:txBody>
        </p:sp>
      </p:grpSp>
      <p:grpSp>
        <p:nvGrpSpPr>
          <p:cNvPr id="105" name="Google Shape;105;p13"/>
          <p:cNvGrpSpPr/>
          <p:nvPr/>
        </p:nvGrpSpPr>
        <p:grpSpPr>
          <a:xfrm>
            <a:off x="7123894" y="903456"/>
            <a:ext cx="185706" cy="1315843"/>
            <a:chOff x="10386869" y="3580681"/>
            <a:chExt cx="185706" cy="1315843"/>
          </a:xfrm>
        </p:grpSpPr>
        <p:pic>
          <p:nvPicPr>
            <p:cNvPr id="106" name="Google Shape;106;p13"/>
            <p:cNvPicPr preferRelativeResize="0"/>
            <p:nvPr/>
          </p:nvPicPr>
          <p:blipFill>
            <a:blip r:embed="rId3">
              <a:alphaModFix/>
            </a:blip>
            <a:stretch>
              <a:fillRect/>
            </a:stretch>
          </p:blipFill>
          <p:spPr>
            <a:xfrm>
              <a:off x="10386875" y="3863816"/>
              <a:ext cx="185700" cy="186496"/>
            </a:xfrm>
            <a:prstGeom prst="rect">
              <a:avLst/>
            </a:prstGeom>
            <a:noFill/>
            <a:ln>
              <a:noFill/>
            </a:ln>
          </p:spPr>
        </p:pic>
        <p:pic>
          <p:nvPicPr>
            <p:cNvPr id="107" name="Google Shape;107;p13"/>
            <p:cNvPicPr preferRelativeResize="0"/>
            <p:nvPr/>
          </p:nvPicPr>
          <p:blipFill>
            <a:blip r:embed="rId4">
              <a:alphaModFix/>
            </a:blip>
            <a:stretch>
              <a:fillRect/>
            </a:stretch>
          </p:blipFill>
          <p:spPr>
            <a:xfrm>
              <a:off x="10386869" y="3580681"/>
              <a:ext cx="185700" cy="188061"/>
            </a:xfrm>
            <a:prstGeom prst="rect">
              <a:avLst/>
            </a:prstGeom>
            <a:noFill/>
            <a:ln>
              <a:noFill/>
            </a:ln>
          </p:spPr>
        </p:pic>
        <p:pic>
          <p:nvPicPr>
            <p:cNvPr id="108" name="Google Shape;108;p13"/>
            <p:cNvPicPr preferRelativeResize="0"/>
            <p:nvPr/>
          </p:nvPicPr>
          <p:blipFill>
            <a:blip r:embed="rId5">
              <a:alphaModFix/>
            </a:blip>
            <a:stretch>
              <a:fillRect/>
            </a:stretch>
          </p:blipFill>
          <p:spPr>
            <a:xfrm>
              <a:off x="10386875" y="4146538"/>
              <a:ext cx="185700" cy="185700"/>
            </a:xfrm>
            <a:prstGeom prst="rect">
              <a:avLst/>
            </a:prstGeom>
            <a:noFill/>
            <a:ln>
              <a:noFill/>
            </a:ln>
          </p:spPr>
        </p:pic>
        <p:pic>
          <p:nvPicPr>
            <p:cNvPr id="109" name="Google Shape;109;p13"/>
            <p:cNvPicPr preferRelativeResize="0"/>
            <p:nvPr/>
          </p:nvPicPr>
          <p:blipFill>
            <a:blip r:embed="rId6">
              <a:alphaModFix/>
            </a:blip>
            <a:stretch>
              <a:fillRect/>
            </a:stretch>
          </p:blipFill>
          <p:spPr>
            <a:xfrm>
              <a:off x="10386875" y="4429271"/>
              <a:ext cx="185700" cy="184930"/>
            </a:xfrm>
            <a:prstGeom prst="rect">
              <a:avLst/>
            </a:prstGeom>
            <a:noFill/>
            <a:ln>
              <a:noFill/>
            </a:ln>
          </p:spPr>
        </p:pic>
        <p:pic>
          <p:nvPicPr>
            <p:cNvPr id="110" name="Google Shape;110;p13"/>
            <p:cNvPicPr preferRelativeResize="0"/>
            <p:nvPr/>
          </p:nvPicPr>
          <p:blipFill>
            <a:blip r:embed="rId7">
              <a:alphaModFix/>
            </a:blip>
            <a:stretch>
              <a:fillRect/>
            </a:stretch>
          </p:blipFill>
          <p:spPr>
            <a:xfrm flipH="1">
              <a:off x="10386875" y="4711600"/>
              <a:ext cx="185700" cy="184925"/>
            </a:xfrm>
            <a:prstGeom prst="rect">
              <a:avLst/>
            </a:prstGeom>
            <a:noFill/>
            <a:ln>
              <a:noFill/>
            </a:ln>
          </p:spPr>
        </p:pic>
      </p:grpSp>
      <p:sp>
        <p:nvSpPr>
          <p:cNvPr id="111" name="Google Shape;111;p13"/>
          <p:cNvSpPr txBox="1"/>
          <p:nvPr/>
        </p:nvSpPr>
        <p:spPr>
          <a:xfrm>
            <a:off x="6001600" y="196175"/>
            <a:ext cx="11430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Mood elements</a:t>
            </a:r>
            <a:endParaRPr b="1" sz="1000">
              <a:latin typeface="Roboto"/>
              <a:ea typeface="Roboto"/>
              <a:cs typeface="Roboto"/>
              <a:sym typeface="Roboto"/>
            </a:endParaRPr>
          </a:p>
        </p:txBody>
      </p:sp>
      <p:cxnSp>
        <p:nvCxnSpPr>
          <p:cNvPr id="112" name="Google Shape;112;p13"/>
          <p:cNvCxnSpPr/>
          <p:nvPr/>
        </p:nvCxnSpPr>
        <p:spPr>
          <a:xfrm>
            <a:off x="8391425" y="550850"/>
            <a:ext cx="0" cy="4905600"/>
          </a:xfrm>
          <a:prstGeom prst="straightConnector1">
            <a:avLst/>
          </a:prstGeom>
          <a:noFill/>
          <a:ln cap="flat" cmpd="sng" w="9525">
            <a:solidFill>
              <a:srgbClr val="999999"/>
            </a:solidFill>
            <a:prstDash val="dot"/>
            <a:round/>
            <a:headEnd len="med" w="med" type="none"/>
            <a:tailEnd len="med" w="med" type="none"/>
          </a:ln>
        </p:spPr>
      </p:cxnSp>
      <p:sp>
        <p:nvSpPr>
          <p:cNvPr id="113" name="Google Shape;113;p13"/>
          <p:cNvSpPr txBox="1"/>
          <p:nvPr/>
        </p:nvSpPr>
        <p:spPr>
          <a:xfrm>
            <a:off x="7819925" y="196175"/>
            <a:ext cx="11430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Separator</a:t>
            </a:r>
            <a:endParaRPr b="1" sz="1000">
              <a:latin typeface="Roboto"/>
              <a:ea typeface="Roboto"/>
              <a:cs typeface="Roboto"/>
              <a:sym typeface="Roboto"/>
            </a:endParaRPr>
          </a:p>
        </p:txBody>
      </p:sp>
      <p:sp>
        <p:nvSpPr>
          <p:cNvPr id="114" name="Google Shape;114;p13"/>
          <p:cNvSpPr txBox="1"/>
          <p:nvPr/>
        </p:nvSpPr>
        <p:spPr>
          <a:xfrm>
            <a:off x="3942875" y="762245"/>
            <a:ext cx="633900" cy="528000"/>
          </a:xfrm>
          <a:prstGeom prst="rect">
            <a:avLst/>
          </a:prstGeom>
          <a:solidFill>
            <a:srgbClr val="EA9999"/>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Roboto"/>
                <a:ea typeface="Roboto"/>
                <a:cs typeface="Roboto"/>
                <a:sym typeface="Roboto"/>
              </a:rPr>
              <a:t>Action item:</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copy me!</a:t>
            </a:r>
            <a:endParaRPr sz="600">
              <a:latin typeface="Roboto"/>
              <a:ea typeface="Roboto"/>
              <a:cs typeface="Roboto"/>
              <a:sym typeface="Roboto"/>
            </a:endParaRPr>
          </a:p>
        </p:txBody>
      </p:sp>
      <p:sp>
        <p:nvSpPr>
          <p:cNvPr id="115" name="Google Shape;115;p13"/>
          <p:cNvSpPr txBox="1"/>
          <p:nvPr/>
        </p:nvSpPr>
        <p:spPr>
          <a:xfrm>
            <a:off x="3942875" y="1320045"/>
            <a:ext cx="633900" cy="528000"/>
          </a:xfrm>
          <a:prstGeom prst="rect">
            <a:avLst/>
          </a:prstGeom>
          <a:solidFill>
            <a:srgbClr val="B4A7D6"/>
          </a:solidFill>
          <a:ln cap="flat" cmpd="sng" w="9525">
            <a:solidFill>
              <a:srgbClr val="666666"/>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600">
                <a:latin typeface="Roboto"/>
                <a:ea typeface="Roboto"/>
                <a:cs typeface="Roboto"/>
                <a:sym typeface="Roboto"/>
              </a:rPr>
              <a:t>Agreement:</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copy me!</a:t>
            </a:r>
            <a:endParaRPr sz="600">
              <a:latin typeface="Roboto"/>
              <a:ea typeface="Roboto"/>
              <a:cs typeface="Roboto"/>
              <a:sym typeface="Roboto"/>
            </a:endParaRPr>
          </a:p>
        </p:txBody>
      </p:sp>
      <p:sp>
        <p:nvSpPr>
          <p:cNvPr id="116" name="Google Shape;116;p13"/>
          <p:cNvSpPr txBox="1"/>
          <p:nvPr/>
        </p:nvSpPr>
        <p:spPr>
          <a:xfrm>
            <a:off x="214675" y="3125900"/>
            <a:ext cx="1283100" cy="15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
                <a:latin typeface="Roboto"/>
                <a:ea typeface="Roboto"/>
                <a:cs typeface="Roboto"/>
                <a:sym typeface="Roboto"/>
              </a:rPr>
              <a:t>Timing guidelines:</a:t>
            </a:r>
            <a:endParaRPr b="1"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1. Set the stage - 0:00-0:05</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2. Gather data - 0:05-0:25</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  - write on stickies - 7 min</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  - discuss &amp; cluster - 10 min</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  - vote - 1 min</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3. Generate insights - 0:25-0:35</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  - write on stickies - 7 min</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4. Decide what to do - 0:35-0:55</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  - discuss #1 - 5 min</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  - discuss #2 - 5 min</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  - discuss #3 - 5 min</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  - vote - 1 min</a:t>
            </a:r>
            <a:endParaRPr sz="600">
              <a:latin typeface="Roboto"/>
              <a:ea typeface="Roboto"/>
              <a:cs typeface="Roboto"/>
              <a:sym typeface="Roboto"/>
            </a:endParaRPr>
          </a:p>
          <a:p>
            <a:pPr indent="0" lvl="0" marL="0" rtl="0" algn="l">
              <a:spcBef>
                <a:spcPts val="0"/>
              </a:spcBef>
              <a:spcAft>
                <a:spcPts val="0"/>
              </a:spcAft>
              <a:buNone/>
            </a:pPr>
            <a:r>
              <a:rPr lang="en" sz="600">
                <a:latin typeface="Roboto"/>
                <a:ea typeface="Roboto"/>
                <a:cs typeface="Roboto"/>
                <a:sym typeface="Roboto"/>
              </a:rPr>
              <a:t>5. Close the retro - 0:55-1:00</a:t>
            </a:r>
            <a:endParaRPr sz="600">
              <a:latin typeface="Roboto"/>
              <a:ea typeface="Roboto"/>
              <a:cs typeface="Roboto"/>
              <a:sym typeface="Roboto"/>
            </a:endParaRPr>
          </a:p>
        </p:txBody>
      </p:sp>
      <p:sp>
        <p:nvSpPr>
          <p:cNvPr id="117" name="Google Shape;117;p13"/>
          <p:cNvSpPr txBox="1"/>
          <p:nvPr/>
        </p:nvSpPr>
        <p:spPr>
          <a:xfrm>
            <a:off x="214675" y="2762850"/>
            <a:ext cx="11343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1-hour retro cheat sheet</a:t>
            </a:r>
            <a:endParaRPr b="1" sz="1000">
              <a:latin typeface="Roboto"/>
              <a:ea typeface="Roboto"/>
              <a:cs typeface="Roboto"/>
              <a:sym typeface="Roboto"/>
            </a:endParaRPr>
          </a:p>
        </p:txBody>
      </p:sp>
      <p:sp>
        <p:nvSpPr>
          <p:cNvPr id="118" name="Google Shape;118;p13"/>
          <p:cNvSpPr txBox="1"/>
          <p:nvPr/>
        </p:nvSpPr>
        <p:spPr>
          <a:xfrm>
            <a:off x="1449475" y="473075"/>
            <a:ext cx="10068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latin typeface="Roboto"/>
                <a:ea typeface="Roboto"/>
                <a:cs typeface="Roboto"/>
                <a:sym typeface="Roboto"/>
              </a:rPr>
              <a:t>We are dots. Drag us to the board during voting.</a:t>
            </a:r>
            <a:endParaRPr sz="600">
              <a:latin typeface="Roboto"/>
              <a:ea typeface="Roboto"/>
              <a:cs typeface="Roboto"/>
              <a:sym typeface="Roboto"/>
            </a:endParaRPr>
          </a:p>
        </p:txBody>
      </p:sp>
      <p:sp>
        <p:nvSpPr>
          <p:cNvPr id="119" name="Google Shape;119;p13"/>
          <p:cNvSpPr txBox="1"/>
          <p:nvPr/>
        </p:nvSpPr>
        <p:spPr>
          <a:xfrm>
            <a:off x="37025" y="473075"/>
            <a:ext cx="10068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latin typeface="Roboto"/>
                <a:ea typeface="Roboto"/>
                <a:cs typeface="Roboto"/>
                <a:sym typeface="Roboto"/>
              </a:rPr>
              <a:t>We are dots. Drag us to the board during voting.</a:t>
            </a:r>
            <a:endParaRPr sz="600">
              <a:latin typeface="Roboto"/>
              <a:ea typeface="Roboto"/>
              <a:cs typeface="Roboto"/>
              <a:sym typeface="Roboto"/>
            </a:endParaRPr>
          </a:p>
        </p:txBody>
      </p:sp>
      <p:sp>
        <p:nvSpPr>
          <p:cNvPr id="120" name="Google Shape;120;p13"/>
          <p:cNvSpPr/>
          <p:nvPr/>
        </p:nvSpPr>
        <p:spPr>
          <a:xfrm>
            <a:off x="1820900" y="3179300"/>
            <a:ext cx="101700" cy="203400"/>
          </a:xfrm>
          <a:prstGeom prst="up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3"/>
          <p:cNvSpPr/>
          <p:nvPr/>
        </p:nvSpPr>
        <p:spPr>
          <a:xfrm>
            <a:off x="1992376" y="3195942"/>
            <a:ext cx="101700" cy="203400"/>
          </a:xfrm>
          <a:prstGeom prst="down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2163852" y="3234785"/>
            <a:ext cx="230700" cy="92400"/>
          </a:xfrm>
          <a:prstGeom prst="leftRightArrow">
            <a:avLst>
              <a:gd fmla="val 50000" name="adj1"/>
              <a:gd fmla="val 50000" name="adj2"/>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txBox="1"/>
          <p:nvPr/>
        </p:nvSpPr>
        <p:spPr>
          <a:xfrm>
            <a:off x="1587225" y="2762850"/>
            <a:ext cx="10068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Arrows</a:t>
            </a:r>
            <a:endParaRPr b="1" sz="1000">
              <a:latin typeface="Roboto"/>
              <a:ea typeface="Roboto"/>
              <a:cs typeface="Roboto"/>
              <a:sym typeface="Roboto"/>
            </a:endParaRPr>
          </a:p>
        </p:txBody>
      </p:sp>
      <p:sp>
        <p:nvSpPr>
          <p:cNvPr id="124" name="Google Shape;124;p13"/>
          <p:cNvSpPr/>
          <p:nvPr/>
        </p:nvSpPr>
        <p:spPr>
          <a:xfrm>
            <a:off x="1820900" y="3557950"/>
            <a:ext cx="101700" cy="203400"/>
          </a:xfrm>
          <a:prstGeom prst="upArrow">
            <a:avLst>
              <a:gd fmla="val 50000" name="adj1"/>
              <a:gd fmla="val 50000" name="adj2"/>
            </a:avLst>
          </a:prstGeom>
          <a:solidFill>
            <a:srgbClr val="93C47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1992376" y="3574592"/>
            <a:ext cx="101700" cy="203400"/>
          </a:xfrm>
          <a:prstGeom prst="downArrow">
            <a:avLst>
              <a:gd fmla="val 50000" name="adj1"/>
              <a:gd fmla="val 50000" name="adj2"/>
            </a:avLst>
          </a:prstGeom>
          <a:solidFill>
            <a:srgbClr val="CC4125"/>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2163852" y="3613435"/>
            <a:ext cx="230700" cy="92400"/>
          </a:xfrm>
          <a:prstGeom prst="leftRightArrow">
            <a:avLst>
              <a:gd fmla="val 50000" name="adj1"/>
              <a:gd fmla="val 50000" name="adj2"/>
            </a:avLst>
          </a:prstGeom>
          <a:solidFill>
            <a:srgbClr val="FFD966"/>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txBox="1"/>
          <p:nvPr/>
        </p:nvSpPr>
        <p:spPr>
          <a:xfrm>
            <a:off x="-2124175" y="333525"/>
            <a:ext cx="2007300" cy="153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latin typeface="Roboto"/>
                <a:ea typeface="Roboto"/>
                <a:cs typeface="Roboto"/>
                <a:sym typeface="Roboto"/>
              </a:rPr>
              <a:t>Tips:</a:t>
            </a:r>
            <a:endParaRPr b="1" sz="700">
              <a:latin typeface="Roboto"/>
              <a:ea typeface="Roboto"/>
              <a:cs typeface="Roboto"/>
              <a:sym typeface="Roboto"/>
            </a:endParaRPr>
          </a:p>
          <a:p>
            <a:pPr indent="0" lvl="0" marL="0" rtl="0" algn="l">
              <a:spcBef>
                <a:spcPts val="0"/>
              </a:spcBef>
              <a:spcAft>
                <a:spcPts val="0"/>
              </a:spcAft>
              <a:buNone/>
            </a:pPr>
            <a:r>
              <a:rPr i="1" lang="en" sz="700">
                <a:latin typeface="Roboto"/>
                <a:ea typeface="Roboto"/>
                <a:cs typeface="Roboto"/>
                <a:sym typeface="Roboto"/>
              </a:rPr>
              <a:t>Dragging dots.</a:t>
            </a:r>
            <a:r>
              <a:rPr lang="en" sz="700">
                <a:latin typeface="Roboto"/>
                <a:ea typeface="Roboto"/>
                <a:cs typeface="Roboto"/>
                <a:sym typeface="Roboto"/>
              </a:rPr>
              <a:t> The easiest way to drag a dot is to click on it and drag immediately without releasing the mouse button. If you release the button, a frame appears around the dot and you are risking to drag one of its corners instead, thus resizing the dot. Just click on a blank area and try dragging once again. The most evident idea how to fix it is making the dots larger. In my experience, however, it doesn’t make the task of dragging much easier while making the dots consume an impractical amount of space on the canvas.</a:t>
            </a:r>
            <a:endParaRPr sz="700">
              <a:latin typeface="Roboto"/>
              <a:ea typeface="Roboto"/>
              <a:cs typeface="Roboto"/>
              <a:sym typeface="Roboto"/>
            </a:endParaRPr>
          </a:p>
        </p:txBody>
      </p:sp>
      <p:grpSp>
        <p:nvGrpSpPr>
          <p:cNvPr id="128" name="Google Shape;128;p13"/>
          <p:cNvGrpSpPr/>
          <p:nvPr/>
        </p:nvGrpSpPr>
        <p:grpSpPr>
          <a:xfrm>
            <a:off x="3126190" y="3026236"/>
            <a:ext cx="3010998" cy="1732635"/>
            <a:chOff x="10479425" y="3230150"/>
            <a:chExt cx="1190400" cy="1723500"/>
          </a:xfrm>
        </p:grpSpPr>
        <p:sp>
          <p:nvSpPr>
            <p:cNvPr id="129" name="Google Shape;129;p13"/>
            <p:cNvSpPr/>
            <p:nvPr/>
          </p:nvSpPr>
          <p:spPr>
            <a:xfrm>
              <a:off x="10479425" y="3230150"/>
              <a:ext cx="1190400" cy="1723500"/>
            </a:xfrm>
            <a:prstGeom prst="rect">
              <a:avLst/>
            </a:prstGeom>
            <a:solidFill>
              <a:srgbClr val="FFFFFF"/>
            </a:solidFill>
            <a:ln cap="flat" cmpd="sng" w="9525">
              <a:solidFill>
                <a:srgbClr val="000000"/>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3"/>
            <p:cNvSpPr txBox="1"/>
            <p:nvPr/>
          </p:nvSpPr>
          <p:spPr>
            <a:xfrm>
              <a:off x="10638429" y="3259645"/>
              <a:ext cx="872400" cy="187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Hero of the sprint</a:t>
              </a:r>
              <a:endParaRPr sz="1000">
                <a:latin typeface="Roboto"/>
                <a:ea typeface="Roboto"/>
                <a:cs typeface="Roboto"/>
                <a:sym typeface="Roboto"/>
              </a:endParaRPr>
            </a:p>
          </p:txBody>
        </p:sp>
      </p:grpSp>
      <p:sp>
        <p:nvSpPr>
          <p:cNvPr id="131" name="Google Shape;131;p13"/>
          <p:cNvSpPr txBox="1"/>
          <p:nvPr/>
        </p:nvSpPr>
        <p:spPr>
          <a:xfrm>
            <a:off x="542600" y="5265725"/>
            <a:ext cx="1229700" cy="35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[Title stub]</a:t>
            </a:r>
            <a:endParaRPr>
              <a:latin typeface="Roboto"/>
              <a:ea typeface="Roboto"/>
              <a:cs typeface="Roboto"/>
              <a:sym typeface="Roboto"/>
            </a:endParaRPr>
          </a:p>
        </p:txBody>
      </p:sp>
      <p:sp>
        <p:nvSpPr>
          <p:cNvPr id="132" name="Google Shape;132;p13"/>
          <p:cNvSpPr txBox="1"/>
          <p:nvPr/>
        </p:nvSpPr>
        <p:spPr>
          <a:xfrm>
            <a:off x="37550" y="5725988"/>
            <a:ext cx="2454600" cy="35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Action Items &amp; Agreements</a:t>
            </a:r>
            <a:endParaRPr>
              <a:latin typeface="Roboto"/>
              <a:ea typeface="Roboto"/>
              <a:cs typeface="Roboto"/>
              <a:sym typeface="Roboto"/>
            </a:endParaRPr>
          </a:p>
        </p:txBody>
      </p:sp>
      <p:sp>
        <p:nvSpPr>
          <p:cNvPr id="133" name="Google Shape;133;p13"/>
          <p:cNvSpPr txBox="1"/>
          <p:nvPr/>
        </p:nvSpPr>
        <p:spPr>
          <a:xfrm>
            <a:off x="654050" y="4933925"/>
            <a:ext cx="1006800" cy="241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Roboto"/>
                <a:ea typeface="Roboto"/>
                <a:cs typeface="Roboto"/>
                <a:sym typeface="Roboto"/>
              </a:rPr>
              <a:t>Titles</a:t>
            </a:r>
            <a:endParaRPr b="1" sz="1000">
              <a:latin typeface="Roboto"/>
              <a:ea typeface="Roboto"/>
              <a:cs typeface="Roboto"/>
              <a:sym typeface="Roboto"/>
            </a:endParaRPr>
          </a:p>
        </p:txBody>
      </p:sp>
      <p:pic>
        <p:nvPicPr>
          <p:cNvPr id="134" name="Google Shape;134;p13"/>
          <p:cNvPicPr preferRelativeResize="0"/>
          <p:nvPr/>
        </p:nvPicPr>
        <p:blipFill>
          <a:blip r:embed="rId8">
            <a:alphaModFix/>
          </a:blip>
          <a:stretch>
            <a:fillRect/>
          </a:stretch>
        </p:blipFill>
        <p:spPr>
          <a:xfrm>
            <a:off x="37025" y="6633550"/>
            <a:ext cx="565474" cy="199200"/>
          </a:xfrm>
          <a:prstGeom prst="rect">
            <a:avLst/>
          </a:prstGeom>
          <a:noFill/>
          <a:ln>
            <a:noFill/>
          </a:ln>
        </p:spPr>
      </p:pic>
      <p:sp>
        <p:nvSpPr>
          <p:cNvPr id="135" name="Google Shape;135;p13"/>
          <p:cNvSpPr txBox="1"/>
          <p:nvPr/>
        </p:nvSpPr>
        <p:spPr>
          <a:xfrm>
            <a:off x="7977250" y="6740875"/>
            <a:ext cx="1198500" cy="103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sz="600">
                <a:latin typeface="Roboto"/>
                <a:ea typeface="Roboto"/>
                <a:cs typeface="Roboto"/>
                <a:sym typeface="Roboto"/>
              </a:rPr>
              <a:t>Created by Kiryl Baranoshnik</a:t>
            </a:r>
            <a:endParaRPr b="1" sz="600">
              <a:latin typeface="Roboto"/>
              <a:ea typeface="Roboto"/>
              <a:cs typeface="Roboto"/>
              <a:sym typeface="Roboto"/>
            </a:endParaRPr>
          </a:p>
        </p:txBody>
      </p:sp>
      <p:pic>
        <p:nvPicPr>
          <p:cNvPr id="136" name="Google Shape;136;p13"/>
          <p:cNvPicPr preferRelativeResize="0"/>
          <p:nvPr/>
        </p:nvPicPr>
        <p:blipFill rotWithShape="1">
          <a:blip r:embed="rId9">
            <a:alphaModFix/>
          </a:blip>
          <a:srcRect b="17396" l="0" r="0" t="0"/>
          <a:stretch/>
        </p:blipFill>
        <p:spPr>
          <a:xfrm>
            <a:off x="8318575" y="6576858"/>
            <a:ext cx="768600" cy="164018"/>
          </a:xfrm>
          <a:prstGeom prst="rect">
            <a:avLst/>
          </a:prstGeom>
          <a:noFill/>
          <a:ln>
            <a:noFill/>
          </a:ln>
        </p:spPr>
      </p:pic>
      <p:sp>
        <p:nvSpPr>
          <p:cNvPr id="137" name="Google Shape;137;p13"/>
          <p:cNvSpPr txBox="1"/>
          <p:nvPr/>
        </p:nvSpPr>
        <p:spPr>
          <a:xfrm>
            <a:off x="9175750" y="6576850"/>
            <a:ext cx="1425300" cy="281100"/>
          </a:xfrm>
          <a:prstGeom prst="rect">
            <a:avLst/>
          </a:prstGeom>
          <a:noFill/>
          <a:ln>
            <a:noFill/>
          </a:ln>
        </p:spPr>
        <p:txBody>
          <a:bodyPr anchorCtr="0" anchor="ctr" bIns="91225" lIns="91225" spcFirstLastPara="1" rIns="91225" wrap="square" tIns="91225">
            <a:noAutofit/>
          </a:bodyPr>
          <a:lstStyle/>
          <a:p>
            <a:pPr indent="0" lvl="0" marL="0" rtl="0" algn="l">
              <a:spcBef>
                <a:spcPts val="0"/>
              </a:spcBef>
              <a:spcAft>
                <a:spcPts val="0"/>
              </a:spcAft>
              <a:buNone/>
            </a:pPr>
            <a:r>
              <a:rPr lang="en" sz="600" u="sng">
                <a:solidFill>
                  <a:srgbClr val="000099"/>
                </a:solidFill>
                <a:latin typeface="Roboto"/>
                <a:ea typeface="Roboto"/>
                <a:cs typeface="Roboto"/>
                <a:sym typeface="Roboto"/>
                <a:hlinkClick r:id="rId10"/>
              </a:rPr>
              <a:t>http://agilelab.org/</a:t>
            </a:r>
            <a:endParaRPr sz="600">
              <a:latin typeface="Roboto"/>
              <a:ea typeface="Roboto"/>
              <a:cs typeface="Roboto"/>
              <a:sym typeface="Roboto"/>
            </a:endParaRPr>
          </a:p>
          <a:p>
            <a:pPr indent="0" lvl="0" marL="0" rtl="0" algn="l">
              <a:spcBef>
                <a:spcPts val="0"/>
              </a:spcBef>
              <a:spcAft>
                <a:spcPts val="0"/>
              </a:spcAft>
              <a:buNone/>
            </a:pPr>
            <a:r>
              <a:rPr lang="en" sz="600" u="sng">
                <a:solidFill>
                  <a:srgbClr val="000099"/>
                </a:solidFill>
                <a:latin typeface="Roboto"/>
                <a:ea typeface="Roboto"/>
                <a:cs typeface="Roboto"/>
                <a:sym typeface="Roboto"/>
                <a:hlinkClick r:id="rId11"/>
              </a:rPr>
              <a:t>http://baranoshnik.com/</a:t>
            </a:r>
            <a:endParaRPr sz="600">
              <a:latin typeface="Roboto"/>
              <a:ea typeface="Roboto"/>
              <a:cs typeface="Roboto"/>
              <a:sym typeface="Roboto"/>
            </a:endParaRPr>
          </a:p>
        </p:txBody>
      </p:sp>
      <p:sp>
        <p:nvSpPr>
          <p:cNvPr id="138" name="Google Shape;138;p13"/>
          <p:cNvSpPr txBox="1"/>
          <p:nvPr/>
        </p:nvSpPr>
        <p:spPr>
          <a:xfrm>
            <a:off x="-2124175" y="2814950"/>
            <a:ext cx="2007300" cy="9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latin typeface="Roboto"/>
                <a:ea typeface="Roboto"/>
                <a:cs typeface="Roboto"/>
                <a:sym typeface="Roboto"/>
              </a:rPr>
              <a:t>Tips:</a:t>
            </a:r>
            <a:endParaRPr b="1" sz="700">
              <a:latin typeface="Roboto"/>
              <a:ea typeface="Roboto"/>
              <a:cs typeface="Roboto"/>
              <a:sym typeface="Roboto"/>
            </a:endParaRPr>
          </a:p>
          <a:p>
            <a:pPr indent="0" lvl="0" marL="0" rtl="0" algn="l">
              <a:spcBef>
                <a:spcPts val="0"/>
              </a:spcBef>
              <a:spcAft>
                <a:spcPts val="0"/>
              </a:spcAft>
              <a:buNone/>
            </a:pPr>
            <a:r>
              <a:rPr i="1" lang="en" sz="700">
                <a:latin typeface="Roboto"/>
                <a:ea typeface="Roboto"/>
                <a:cs typeface="Roboto"/>
                <a:sym typeface="Roboto"/>
              </a:rPr>
              <a:t>Timing guidelines.</a:t>
            </a:r>
            <a:r>
              <a:rPr lang="en" sz="700">
                <a:latin typeface="Roboto"/>
                <a:ea typeface="Roboto"/>
                <a:cs typeface="Roboto"/>
                <a:sym typeface="Roboto"/>
              </a:rPr>
              <a:t> This is the most basic one-hour retrospective timing. It assume there are two rounds of discussion with a round of voting after each. Use it for starters, adapt as you get more comfortable with running retrospectives.</a:t>
            </a:r>
            <a:endParaRPr sz="700">
              <a:latin typeface="Roboto"/>
              <a:ea typeface="Roboto"/>
              <a:cs typeface="Roboto"/>
              <a:sym typeface="Roboto"/>
            </a:endParaRPr>
          </a:p>
        </p:txBody>
      </p:sp>
      <p:sp>
        <p:nvSpPr>
          <p:cNvPr id="139" name="Google Shape;139;p13"/>
          <p:cNvSpPr txBox="1"/>
          <p:nvPr/>
        </p:nvSpPr>
        <p:spPr>
          <a:xfrm>
            <a:off x="9337125" y="15875"/>
            <a:ext cx="2007300" cy="131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latin typeface="Roboto"/>
                <a:ea typeface="Roboto"/>
                <a:cs typeface="Roboto"/>
                <a:sym typeface="Roboto"/>
              </a:rPr>
              <a:t>Tips:</a:t>
            </a:r>
            <a:endParaRPr b="1" sz="700">
              <a:latin typeface="Roboto"/>
              <a:ea typeface="Roboto"/>
              <a:cs typeface="Roboto"/>
              <a:sym typeface="Roboto"/>
            </a:endParaRPr>
          </a:p>
          <a:p>
            <a:pPr indent="0" lvl="0" marL="0" rtl="0" algn="l">
              <a:spcBef>
                <a:spcPts val="0"/>
              </a:spcBef>
              <a:spcAft>
                <a:spcPts val="0"/>
              </a:spcAft>
              <a:buNone/>
            </a:pPr>
            <a:r>
              <a:rPr i="1" lang="en" sz="700">
                <a:latin typeface="Roboto"/>
                <a:ea typeface="Roboto"/>
                <a:cs typeface="Roboto"/>
                <a:sym typeface="Roboto"/>
              </a:rPr>
              <a:t>Sticky notes.</a:t>
            </a:r>
            <a:r>
              <a:rPr lang="en" sz="700">
                <a:latin typeface="Roboto"/>
                <a:ea typeface="Roboto"/>
                <a:cs typeface="Roboto"/>
                <a:sym typeface="Roboto"/>
              </a:rPr>
              <a:t> During a retrospective or any other facilitated session don’t be afraid to use color coding extensively. For instance, yellow might be a general purpose color, while read or purple might mean something specific like “retrospective action item” or “team agreement”. Experiment with shades and border styles. Unlike with physical sticky notes, here the possibilities are virtually unlimited.</a:t>
            </a:r>
            <a:endParaRPr sz="700">
              <a:latin typeface="Roboto"/>
              <a:ea typeface="Roboto"/>
              <a:cs typeface="Roboto"/>
              <a:sym typeface="Roboto"/>
            </a:endParaRPr>
          </a:p>
        </p:txBody>
      </p:sp>
      <p:sp>
        <p:nvSpPr>
          <p:cNvPr id="140" name="Google Shape;140;p13"/>
          <p:cNvSpPr txBox="1"/>
          <p:nvPr/>
        </p:nvSpPr>
        <p:spPr>
          <a:xfrm>
            <a:off x="9337125" y="1539750"/>
            <a:ext cx="2007300" cy="173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latin typeface="Roboto"/>
                <a:ea typeface="Roboto"/>
                <a:cs typeface="Roboto"/>
                <a:sym typeface="Roboto"/>
              </a:rPr>
              <a:t>Tips:</a:t>
            </a:r>
            <a:endParaRPr b="1" sz="700">
              <a:latin typeface="Roboto"/>
              <a:ea typeface="Roboto"/>
              <a:cs typeface="Roboto"/>
              <a:sym typeface="Roboto"/>
            </a:endParaRPr>
          </a:p>
          <a:p>
            <a:pPr indent="0" lvl="0" marL="0" rtl="0" algn="l">
              <a:spcBef>
                <a:spcPts val="0"/>
              </a:spcBef>
              <a:spcAft>
                <a:spcPts val="0"/>
              </a:spcAft>
              <a:buNone/>
            </a:pPr>
            <a:r>
              <a:rPr i="1" lang="en" sz="700">
                <a:latin typeface="Roboto"/>
                <a:ea typeface="Roboto"/>
                <a:cs typeface="Roboto"/>
                <a:sym typeface="Roboto"/>
              </a:rPr>
              <a:t>Happiness index.</a:t>
            </a:r>
            <a:r>
              <a:rPr lang="en" sz="700">
                <a:latin typeface="Roboto"/>
                <a:ea typeface="Roboto"/>
                <a:cs typeface="Roboto"/>
                <a:sym typeface="Roboto"/>
              </a:rPr>
              <a:t> You can incorporate happiness index survey in any retrospective. Make sure there’s a set of simple voting dots prepared and ask participants to choose a mood state with a dot any time during the session.</a:t>
            </a:r>
            <a:endParaRPr sz="700">
              <a:latin typeface="Roboto"/>
              <a:ea typeface="Roboto"/>
              <a:cs typeface="Roboto"/>
              <a:sym typeface="Roboto"/>
            </a:endParaRPr>
          </a:p>
          <a:p>
            <a:pPr indent="0" lvl="0" marL="0" rtl="0" algn="l">
              <a:spcBef>
                <a:spcPts val="0"/>
              </a:spcBef>
              <a:spcAft>
                <a:spcPts val="0"/>
              </a:spcAft>
              <a:buNone/>
            </a:pPr>
            <a:r>
              <a:rPr lang="en" sz="700">
                <a:latin typeface="Roboto"/>
                <a:ea typeface="Roboto"/>
                <a:cs typeface="Roboto"/>
                <a:sym typeface="Roboto"/>
              </a:rPr>
              <a:t>Read more about happiness index here: </a:t>
            </a:r>
            <a:r>
              <a:rPr lang="en" sz="700" u="sng">
                <a:solidFill>
                  <a:srgbClr val="000099"/>
                </a:solidFill>
                <a:latin typeface="Roboto"/>
                <a:ea typeface="Roboto"/>
                <a:cs typeface="Roboto"/>
                <a:sym typeface="Roboto"/>
                <a:hlinkClick r:id="rId12"/>
              </a:rPr>
              <a:t>https://www.scruminc.com/happiness-metric-wave-of-future-2/</a:t>
            </a:r>
            <a:endParaRPr sz="700">
              <a:latin typeface="Roboto"/>
              <a:ea typeface="Roboto"/>
              <a:cs typeface="Roboto"/>
              <a:sym typeface="Roboto"/>
            </a:endParaRPr>
          </a:p>
          <a:p>
            <a:pPr indent="0" lvl="0" marL="0" rtl="0" algn="l">
              <a:spcBef>
                <a:spcPts val="0"/>
              </a:spcBef>
              <a:spcAft>
                <a:spcPts val="0"/>
              </a:spcAft>
              <a:buNone/>
            </a:pPr>
            <a:r>
              <a:rPr lang="en" sz="700">
                <a:latin typeface="Roboto"/>
                <a:ea typeface="Roboto"/>
                <a:cs typeface="Roboto"/>
                <a:sym typeface="Roboto"/>
              </a:rPr>
              <a:t>Although keep in mind that the metric is a very rough approximation and better (and more complicated) alternatives exist: </a:t>
            </a:r>
            <a:r>
              <a:rPr lang="en" sz="700" u="sng">
                <a:solidFill>
                  <a:srgbClr val="000099"/>
                </a:solidFill>
                <a:latin typeface="Roboto"/>
                <a:ea typeface="Roboto"/>
                <a:cs typeface="Roboto"/>
                <a:sym typeface="Roboto"/>
                <a:hlinkClick r:id="rId13"/>
              </a:rPr>
              <a:t>https://blog.agilistic.nl/agile-teams-dont-use-happiness-metrics-measure-team-morale/</a:t>
            </a:r>
            <a:endParaRPr sz="700">
              <a:latin typeface="Roboto"/>
              <a:ea typeface="Roboto"/>
              <a:cs typeface="Roboto"/>
              <a:sym typeface="Roboto"/>
            </a:endParaRPr>
          </a:p>
        </p:txBody>
      </p:sp>
      <p:sp>
        <p:nvSpPr>
          <p:cNvPr id="141" name="Google Shape;141;p13"/>
          <p:cNvSpPr txBox="1"/>
          <p:nvPr/>
        </p:nvSpPr>
        <p:spPr>
          <a:xfrm>
            <a:off x="9337125" y="3797525"/>
            <a:ext cx="2007300" cy="70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latin typeface="Roboto"/>
                <a:ea typeface="Roboto"/>
                <a:cs typeface="Roboto"/>
                <a:sym typeface="Roboto"/>
              </a:rPr>
              <a:t>Tips:</a:t>
            </a:r>
            <a:endParaRPr b="1" sz="700">
              <a:latin typeface="Roboto"/>
              <a:ea typeface="Roboto"/>
              <a:cs typeface="Roboto"/>
              <a:sym typeface="Roboto"/>
            </a:endParaRPr>
          </a:p>
          <a:p>
            <a:pPr indent="0" lvl="0" marL="0" rtl="0" algn="l">
              <a:spcBef>
                <a:spcPts val="0"/>
              </a:spcBef>
              <a:spcAft>
                <a:spcPts val="0"/>
              </a:spcAft>
              <a:buNone/>
            </a:pPr>
            <a:r>
              <a:rPr i="1" lang="en" sz="700">
                <a:latin typeface="Roboto"/>
                <a:ea typeface="Roboto"/>
                <a:cs typeface="Roboto"/>
                <a:sym typeface="Roboto"/>
              </a:rPr>
              <a:t>Hero of the sprint.</a:t>
            </a:r>
            <a:r>
              <a:rPr lang="en" sz="700">
                <a:latin typeface="Roboto"/>
                <a:ea typeface="Roboto"/>
                <a:cs typeface="Roboto"/>
                <a:sym typeface="Roboto"/>
              </a:rPr>
              <a:t> Ask the participants to choose their hero of the sprint and put a virtual sticky note with the name inside the box.</a:t>
            </a:r>
            <a:endParaRPr sz="700">
              <a:latin typeface="Roboto"/>
              <a:ea typeface="Roboto"/>
              <a:cs typeface="Roboto"/>
              <a:sym typeface="Roboto"/>
            </a:endParaRPr>
          </a:p>
        </p:txBody>
      </p:sp>
      <p:sp>
        <p:nvSpPr>
          <p:cNvPr id="142" name="Google Shape;142;p13"/>
          <p:cNvSpPr txBox="1"/>
          <p:nvPr/>
        </p:nvSpPr>
        <p:spPr>
          <a:xfrm>
            <a:off x="-2124175" y="4025075"/>
            <a:ext cx="2007300" cy="52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latin typeface="Roboto"/>
                <a:ea typeface="Roboto"/>
                <a:cs typeface="Roboto"/>
                <a:sym typeface="Roboto"/>
              </a:rPr>
              <a:t>Tips:</a:t>
            </a:r>
            <a:endParaRPr b="1" sz="700">
              <a:latin typeface="Roboto"/>
              <a:ea typeface="Roboto"/>
              <a:cs typeface="Roboto"/>
              <a:sym typeface="Roboto"/>
            </a:endParaRPr>
          </a:p>
          <a:p>
            <a:pPr indent="0" lvl="0" marL="0" rtl="0" algn="l">
              <a:spcBef>
                <a:spcPts val="0"/>
              </a:spcBef>
              <a:spcAft>
                <a:spcPts val="0"/>
              </a:spcAft>
              <a:buNone/>
            </a:pPr>
            <a:r>
              <a:rPr i="1" lang="en" sz="700">
                <a:latin typeface="Roboto"/>
                <a:ea typeface="Roboto"/>
                <a:cs typeface="Roboto"/>
                <a:sym typeface="Roboto"/>
              </a:rPr>
              <a:t>Arrows.</a:t>
            </a:r>
            <a:r>
              <a:rPr lang="en" sz="700">
                <a:latin typeface="Roboto"/>
                <a:ea typeface="Roboto"/>
                <a:cs typeface="Roboto"/>
                <a:sym typeface="Roboto"/>
              </a:rPr>
              <a:t> Arrows come in handy when you need to mark a trend.</a:t>
            </a:r>
            <a:endParaRPr sz="700">
              <a:latin typeface="Roboto"/>
              <a:ea typeface="Roboto"/>
              <a:cs typeface="Roboto"/>
              <a:sym typeface="Roboto"/>
            </a:endParaRPr>
          </a:p>
        </p:txBody>
      </p:sp>
      <p:sp>
        <p:nvSpPr>
          <p:cNvPr id="143" name="Google Shape;143;p13"/>
          <p:cNvSpPr txBox="1"/>
          <p:nvPr/>
        </p:nvSpPr>
        <p:spPr>
          <a:xfrm>
            <a:off x="552200" y="6729375"/>
            <a:ext cx="1058700" cy="130200"/>
          </a:xfrm>
          <a:prstGeom prst="rect">
            <a:avLst/>
          </a:prstGeom>
          <a:noFill/>
          <a:ln>
            <a:noFill/>
          </a:ln>
        </p:spPr>
        <p:txBody>
          <a:bodyPr anchorCtr="0" anchor="ctr" bIns="91225" lIns="91225" spcFirstLastPara="1" rIns="91225" wrap="square" tIns="91225">
            <a:noAutofit/>
          </a:bodyPr>
          <a:lstStyle/>
          <a:p>
            <a:pPr indent="0" lvl="0" marL="0" rtl="0" algn="l">
              <a:spcBef>
                <a:spcPts val="0"/>
              </a:spcBef>
              <a:spcAft>
                <a:spcPts val="0"/>
              </a:spcAft>
              <a:buNone/>
            </a:pPr>
            <a:r>
              <a:rPr b="1" lang="en" sz="600">
                <a:latin typeface="Roboto"/>
                <a:ea typeface="Roboto"/>
                <a:cs typeface="Roboto"/>
                <a:sym typeface="Roboto"/>
              </a:rPr>
              <a:t>Kiryl’s Facilitation Toolkit</a:t>
            </a:r>
            <a:endParaRPr sz="600">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